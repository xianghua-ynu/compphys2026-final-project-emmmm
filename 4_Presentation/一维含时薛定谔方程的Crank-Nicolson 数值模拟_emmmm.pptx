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7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76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1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1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1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1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微软雅黑" panose="020B0503020204020204" charset="-122"/>
              </a:rPr>
              <a:t>一维含时薛定谔方程的
Crank-Nicolson 数值模拟</a:t>
            </a:r>
            <a:endParaRPr sz="36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10332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>
                <a:solidFill>
                  <a:srgbClr val="BDC3C7"/>
                </a:solidFill>
                <a:latin typeface="微软雅黑" panose="020B0503020204020204" charset="-122"/>
              </a:rPr>
              <a:t>量子隧穿现象的数值研究与创新拓展</a:t>
            </a:r>
            <a:endParaRPr sz="1800">
              <a:solidFill>
                <a:srgbClr val="BDC3C7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684520" y="4754880"/>
            <a:ext cx="792480" cy="33718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zh-CN" sz="1600">
                <a:solidFill>
                  <a:srgbClr val="FFFFFF"/>
                </a:solidFill>
                <a:latin typeface="微软雅黑" panose="020B0503020204020204" charset="-122"/>
              </a:rPr>
              <a:t>张晅瑞</a:t>
            </a:r>
            <a:endParaRPr lang="zh-CN" sz="160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pic>
        <p:nvPicPr>
          <p:cNvPr id="7" name="图片 6"/>
          <p:cNvPicPr/>
          <p:nvPr/>
        </p:nvPicPr>
        <p:blipFill>
          <a:blip r:embed="rId1"/>
          <a:stretch>
            <a:fillRect/>
          </a:stretch>
        </p:blipFill>
        <p:spPr>
          <a:xfrm>
            <a:off x="11223625" y="0"/>
            <a:ext cx="968375" cy="9220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144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微软雅黑" panose="020B0503020204020204" charset="-122"/>
              </a:rPr>
              <a:t>研究背景与动机</a:t>
            </a:r>
            <a:endParaRPr sz="26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1800" b="1">
                <a:solidFill>
                  <a:srgbClr val="2E86AB"/>
                </a:solidFill>
                <a:latin typeface="微软雅黑" panose="020B0503020204020204" charset="-122"/>
              </a:rPr>
              <a:t>▸ 为什么研究量子隧穿？</a:t>
            </a:r>
            <a:endParaRPr sz="1800" b="1">
              <a:solidFill>
                <a:srgbClr val="2E86AB"/>
              </a:solidFill>
              <a:latin typeface="微软雅黑" panose="020B0503020204020204" charset="-122"/>
            </a:endParaRPr>
          </a:p>
          <a:p>
            <a:pPr>
              <a:lnSpc>
                <a:spcPct val="130000"/>
              </a:lnSpc>
            </a:pPr>
            <a:r>
              <a:rPr sz="1600">
                <a:solidFill>
                  <a:srgbClr val="2C3E50"/>
                </a:solidFill>
                <a:latin typeface="微软雅黑" panose="020B0503020204020204" charset="-122"/>
              </a:rPr>
              <a:t>    • 量子力学最核心的非经典效应：E &lt; V₀ 仍有透射</a:t>
            </a:r>
            <a:endParaRPr sz="1600">
              <a:solidFill>
                <a:srgbClr val="2C3E50"/>
              </a:solidFill>
              <a:latin typeface="微软雅黑" panose="020B0503020204020204" charset="-122"/>
            </a:endParaRPr>
          </a:p>
          <a:p>
            <a:pPr>
              <a:lnSpc>
                <a:spcPct val="130000"/>
              </a:lnSpc>
            </a:pPr>
            <a:r>
              <a:rPr sz="1600">
                <a:solidFill>
                  <a:srgbClr val="2C3E50"/>
                </a:solidFill>
                <a:latin typeface="微软雅黑" panose="020B0503020204020204" charset="-122"/>
              </a:rPr>
              <a:t>    • 应用：STM(1986诺贝尔奖)、核衰变、半导体器件</a:t>
            </a:r>
            <a:endParaRPr sz="1600">
              <a:solidFill>
                <a:srgbClr val="2C3E50"/>
              </a:solidFill>
              <a:latin typeface="微软雅黑" panose="020B0503020204020204" charset="-122"/>
            </a:endParaRPr>
          </a:p>
          <a:p>
            <a:pPr>
              <a:lnSpc>
                <a:spcPct val="130000"/>
              </a:lnSpc>
            </a:pP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1800" b="1">
                <a:solidFill>
                  <a:srgbClr val="2E86AB"/>
                </a:solidFill>
                <a:latin typeface="微软雅黑" panose="020B0503020204020204" charset="-122"/>
              </a:rPr>
              <a:t>▸ 为什么用 Crank-Nicolson 格式？</a:t>
            </a:r>
            <a:endParaRPr sz="1800" b="1">
              <a:solidFill>
                <a:srgbClr val="2E86AB"/>
              </a:solidFill>
              <a:latin typeface="微软雅黑" panose="020B0503020204020204" charset="-122"/>
            </a:endParaRPr>
          </a:p>
          <a:p>
            <a:pPr>
              <a:lnSpc>
                <a:spcPct val="130000"/>
              </a:lnSpc>
            </a:pPr>
            <a:r>
              <a:rPr sz="1600">
                <a:solidFill>
                  <a:srgbClr val="2C3E50"/>
                </a:solidFill>
                <a:latin typeface="微软雅黑" panose="020B0503020204020204" charset="-122"/>
              </a:rPr>
              <a:t>    • 严格幺正 → 概率守恒 (显式格式做不到)</a:t>
            </a:r>
            <a:endParaRPr sz="1600">
              <a:solidFill>
                <a:srgbClr val="2C3E50"/>
              </a:solidFill>
              <a:latin typeface="微软雅黑" panose="020B0503020204020204" charset="-122"/>
            </a:endParaRPr>
          </a:p>
          <a:p>
            <a:pPr>
              <a:lnSpc>
                <a:spcPct val="130000"/>
              </a:lnSpc>
            </a:pPr>
            <a:r>
              <a:rPr sz="1600">
                <a:solidFill>
                  <a:srgbClr val="2C3E50"/>
                </a:solidFill>
                <a:latin typeface="微软雅黑" panose="020B0503020204020204" charset="-122"/>
              </a:rPr>
              <a:t>    • 无条件稳定 + 二阶精度 O(Δt²)</a:t>
            </a:r>
            <a:endParaRPr sz="1600">
              <a:solidFill>
                <a:srgbClr val="2C3E50"/>
              </a:solidFill>
              <a:latin typeface="微软雅黑" panose="020B0503020204020204" charset="-122"/>
            </a:endParaRPr>
          </a:p>
          <a:p>
            <a:pPr>
              <a:lnSpc>
                <a:spcPct val="130000"/>
              </a:lnSpc>
            </a:pP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1800" b="1">
                <a:solidFill>
                  <a:srgbClr val="C0392B"/>
                </a:solidFill>
                <a:latin typeface="微软雅黑" panose="020B0503020204020204" charset="-122"/>
              </a:rPr>
              <a:t>★ 三大创新点：</a:t>
            </a:r>
            <a:endParaRPr sz="1800" b="1">
              <a:solidFill>
                <a:srgbClr val="C0392B"/>
              </a:solidFill>
              <a:latin typeface="微软雅黑" panose="020B0503020204020204" charset="-122"/>
            </a:endParaRPr>
          </a:p>
          <a:p>
            <a:pPr>
              <a:lnSpc>
                <a:spcPct val="130000"/>
              </a:lnSpc>
            </a:pPr>
            <a:r>
              <a:rPr sz="1600">
                <a:solidFill>
                  <a:srgbClr val="2C3E50"/>
                </a:solidFill>
                <a:latin typeface="微软雅黑" panose="020B0503020204020204" charset="-122"/>
              </a:rPr>
              <a:t>    ① 动量空间分析揭示隧穿物理机制</a:t>
            </a:r>
            <a:endParaRPr sz="1600">
              <a:solidFill>
                <a:srgbClr val="2C3E50"/>
              </a:solidFill>
              <a:latin typeface="微软雅黑" panose="020B0503020204020204" charset="-122"/>
            </a:endParaRPr>
          </a:p>
          <a:p>
            <a:pPr>
              <a:lnSpc>
                <a:spcPct val="130000"/>
              </a:lnSpc>
            </a:pPr>
            <a:r>
              <a:rPr sz="1600">
                <a:solidFill>
                  <a:srgbClr val="2C3E50"/>
                </a:solidFill>
                <a:latin typeface="微软雅黑" panose="020B0503020204020204" charset="-122"/>
              </a:rPr>
              <a:t>    ② 严格收敛性分析验证算法精度阶</a:t>
            </a:r>
            <a:endParaRPr sz="1600">
              <a:solidFill>
                <a:srgbClr val="2C3E50"/>
              </a:solidFill>
              <a:latin typeface="微软雅黑" panose="020B0503020204020204" charset="-122"/>
            </a:endParaRPr>
          </a:p>
          <a:p>
            <a:pPr>
              <a:lnSpc>
                <a:spcPct val="130000"/>
              </a:lnSpc>
            </a:pPr>
            <a:r>
              <a:rPr sz="1600">
                <a:solidFill>
                  <a:srgbClr val="2C3E50"/>
                </a:solidFill>
                <a:latin typeface="微软雅黑" panose="020B0503020204020204" charset="-122"/>
              </a:rPr>
              <a:t>    ③ 含时振荡势垒模拟 (光辅助隧穿，透射增强30倍)</a:t>
            </a:r>
            <a:endParaRPr sz="1600">
              <a:solidFill>
                <a:srgbClr val="2C3E50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144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微软雅黑" panose="020B0503020204020204" charset="-122"/>
              </a:rPr>
              <a:t>方法核心：Crank-Nicolson格式 vs 显式Euler</a:t>
            </a:r>
            <a:endParaRPr sz="2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pic>
        <p:nvPicPr>
          <p:cNvPr id="5" name="Picture 4" descr="fig16_cn_vs_euler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10085" y="1097280"/>
            <a:ext cx="7571523" cy="48463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" y="6016752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i="1">
                <a:solidFill>
                  <a:srgbClr val="2C3E50"/>
                </a:solidFill>
                <a:latin typeface="微软雅黑" panose="020B0503020204020204" charset="-122"/>
              </a:rPr>
              <a:t>CN格式严格幺正→概率守恒10⁻¹⁴；Euler格式指数发散——这是选择CN的根本原因</a:t>
            </a:r>
            <a:endParaRPr sz="1300" i="1">
              <a:solidFill>
                <a:srgbClr val="2C3E50"/>
              </a:solidFill>
              <a:latin typeface="微软雅黑" panose="020B0503020204020204" charset="-122"/>
            </a:endParaRPr>
          </a:p>
        </p:txBody>
      </p:sp>
      <p:pic>
        <p:nvPicPr>
          <p:cNvPr id="7" name="图片 6"/>
          <p:cNvPicPr/>
          <p:nvPr/>
        </p:nvPicPr>
        <p:blipFill>
          <a:blip r:embed="rId2"/>
          <a:stretch>
            <a:fillRect/>
          </a:stretch>
        </p:blipFill>
        <p:spPr>
          <a:xfrm>
            <a:off x="11223625" y="0"/>
            <a:ext cx="968375" cy="9220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144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微软雅黑" panose="020B0503020204020204" charset="-122"/>
              </a:rPr>
              <a:t>结果1：波包传播——反射与隧穿</a:t>
            </a:r>
            <a:endParaRPr sz="2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pic>
        <p:nvPicPr>
          <p:cNvPr id="5" name="Picture 4" descr="fig2_evolution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91386" y="1097280"/>
            <a:ext cx="6208921" cy="48463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" y="6016752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i="1">
                <a:solidFill>
                  <a:srgbClr val="2C3E50"/>
                </a:solidFill>
                <a:latin typeface="微软雅黑" panose="020B0503020204020204" charset="-122"/>
              </a:rPr>
              <a:t>E≈12.5入射V₀=15势垒：波包分裂为透射(T=0.006)与反射(R=0.994)，T+R=1验证概率守恒</a:t>
            </a:r>
            <a:endParaRPr sz="1300" i="1">
              <a:solidFill>
                <a:srgbClr val="2C3E50"/>
              </a:solidFill>
              <a:latin typeface="微软雅黑" panose="020B0503020204020204" charset="-122"/>
            </a:endParaRPr>
          </a:p>
        </p:txBody>
      </p:sp>
      <p:pic>
        <p:nvPicPr>
          <p:cNvPr id="7" name="图片 6"/>
          <p:cNvPicPr/>
          <p:nvPr/>
        </p:nvPicPr>
        <p:blipFill>
          <a:blip r:embed="rId2"/>
          <a:stretch>
            <a:fillRect/>
          </a:stretch>
        </p:blipFill>
        <p:spPr>
          <a:xfrm>
            <a:off x="11223625" y="0"/>
            <a:ext cx="968375" cy="9220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144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微软雅黑" panose="020B0503020204020204" charset="-122"/>
              </a:rPr>
              <a:t>结果2：透射系数随势垒参数变化</a:t>
            </a:r>
            <a:endParaRPr sz="2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pic>
        <p:nvPicPr>
          <p:cNvPr id="5" name="Picture 4" descr="fig3_T_vs_heigh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59558" y="1097280"/>
            <a:ext cx="7472577" cy="48463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" y="6016752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i="1">
                <a:solidFill>
                  <a:srgbClr val="2C3E50"/>
                </a:solidFill>
                <a:latin typeface="微软雅黑" panose="020B0503020204020204" charset="-122"/>
              </a:rPr>
              <a:t>透射系数随V₀指数衰减，数值与精确解在4个数量级内吻合，验证算法精度</a:t>
            </a:r>
            <a:endParaRPr sz="1300" i="1">
              <a:solidFill>
                <a:srgbClr val="2C3E50"/>
              </a:solidFill>
              <a:latin typeface="微软雅黑" panose="020B0503020204020204" charset="-122"/>
            </a:endParaRPr>
          </a:p>
        </p:txBody>
      </p:sp>
      <p:pic>
        <p:nvPicPr>
          <p:cNvPr id="7" name="图片 6"/>
          <p:cNvPicPr/>
          <p:nvPr/>
        </p:nvPicPr>
        <p:blipFill>
          <a:blip r:embed="rId2"/>
          <a:stretch>
            <a:fillRect/>
          </a:stretch>
        </p:blipFill>
        <p:spPr>
          <a:xfrm>
            <a:off x="11223625" y="0"/>
            <a:ext cx="968375" cy="9220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144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微软雅黑" panose="020B0503020204020204" charset="-122"/>
              </a:rPr>
              <a:t>创新①：动量空间分析——隧穿的微观图像</a:t>
            </a:r>
            <a:endParaRPr sz="2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pic>
        <p:nvPicPr>
          <p:cNvPr id="5" name="Picture 4" descr="fig10_momentum_spac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34307" y="1097280"/>
            <a:ext cx="8523080" cy="48463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" y="6016752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i="1">
                <a:solidFill>
                  <a:srgbClr val="2C3E50"/>
                </a:solidFill>
                <a:latin typeface="微软雅黑" panose="020B0503020204020204" charset="-122"/>
              </a:rPr>
              <a:t>动量分布分裂为透射峰(+p₀)与反射峰(-p₀)；能量分布跨越V₀，解释数值与理论偏差</a:t>
            </a:r>
            <a:endParaRPr sz="1300" i="1">
              <a:solidFill>
                <a:srgbClr val="2C3E50"/>
              </a:solidFill>
              <a:latin typeface="微软雅黑" panose="020B0503020204020204" charset="-122"/>
            </a:endParaRPr>
          </a:p>
        </p:txBody>
      </p:sp>
      <p:pic>
        <p:nvPicPr>
          <p:cNvPr id="7" name="图片 6"/>
          <p:cNvPicPr/>
          <p:nvPr/>
        </p:nvPicPr>
        <p:blipFill>
          <a:blip r:embed="rId2"/>
          <a:stretch>
            <a:fillRect/>
          </a:stretch>
        </p:blipFill>
        <p:spPr>
          <a:xfrm>
            <a:off x="11223625" y="0"/>
            <a:ext cx="968375" cy="9220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144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微软雅黑" panose="020B0503020204020204" charset="-122"/>
              </a:rPr>
              <a:t>创新②：含时振荡势垒——透射增强30倍</a:t>
            </a:r>
            <a:endParaRPr sz="2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pic>
        <p:nvPicPr>
          <p:cNvPr id="5" name="Picture 4" descr="fig14_time_dependen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77119" y="1097280"/>
            <a:ext cx="4837456" cy="48463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" y="6016752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i="1">
                <a:solidFill>
                  <a:srgbClr val="2C3E50"/>
                </a:solidFill>
                <a:latin typeface="微软雅黑" panose="020B0503020204020204" charset="-122"/>
              </a:rPr>
              <a:t>V(t)=V₀[1+0.3sin(ωt)]使透射从0.006增至0.197；Floquet理论：粒子吸收ħω进入经典透射区</a:t>
            </a:r>
            <a:endParaRPr sz="1300" i="1">
              <a:solidFill>
                <a:srgbClr val="2C3E50"/>
              </a:solidFill>
              <a:latin typeface="微软雅黑" panose="020B0503020204020204" charset="-122"/>
            </a:endParaRPr>
          </a:p>
        </p:txBody>
      </p:sp>
      <p:pic>
        <p:nvPicPr>
          <p:cNvPr id="7" name="图片 6"/>
          <p:cNvPicPr/>
          <p:nvPr/>
        </p:nvPicPr>
        <p:blipFill>
          <a:blip r:embed="rId2"/>
          <a:stretch>
            <a:fillRect/>
          </a:stretch>
        </p:blipFill>
        <p:spPr>
          <a:xfrm>
            <a:off x="11223625" y="0"/>
            <a:ext cx="968375" cy="9220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144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微软雅黑" panose="020B0503020204020204" charset="-122"/>
              </a:rPr>
              <a:t>创新③：收敛性分析与守恒检验</a:t>
            </a:r>
            <a:endParaRPr sz="2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pic>
        <p:nvPicPr>
          <p:cNvPr id="5" name="Picture 4" descr="fig15_convergenc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3847" y="1097280"/>
            <a:ext cx="9144000" cy="379582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" y="4966261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i="1">
                <a:solidFill>
                  <a:srgbClr val="2C3E50"/>
                </a:solidFill>
                <a:latin typeface="微软雅黑" panose="020B0503020204020204" charset="-122"/>
              </a:rPr>
              <a:t>验证O(Δt²)+O(Δx²)收敛阶；概率守恒10⁻¹⁴，能量守恒10⁻¹³(机器精度)</a:t>
            </a:r>
            <a:endParaRPr sz="1300" i="1">
              <a:solidFill>
                <a:srgbClr val="2C3E50"/>
              </a:solidFill>
              <a:latin typeface="微软雅黑" panose="020B0503020204020204" charset="-122"/>
            </a:endParaRPr>
          </a:p>
        </p:txBody>
      </p:sp>
      <p:pic>
        <p:nvPicPr>
          <p:cNvPr id="7" name="图片 6"/>
          <p:cNvPicPr/>
          <p:nvPr/>
        </p:nvPicPr>
        <p:blipFill>
          <a:blip r:embed="rId2"/>
          <a:stretch>
            <a:fillRect/>
          </a:stretch>
        </p:blipFill>
        <p:spPr>
          <a:xfrm>
            <a:off x="11223625" y="0"/>
            <a:ext cx="968375" cy="9220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144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微软雅黑" panose="020B0503020204020204" charset="-122"/>
              </a:rPr>
              <a:t>拓展：定态本征值问题</a:t>
            </a:r>
            <a:endParaRPr sz="2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pic>
        <p:nvPicPr>
          <p:cNvPr id="5" name="Picture 4" descr="fig6_harmonic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52447" y="1097280"/>
            <a:ext cx="8686800" cy="360603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" y="4776470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i="1">
                <a:solidFill>
                  <a:srgbClr val="2C3E50"/>
                </a:solidFill>
                <a:latin typeface="微软雅黑" panose="020B0503020204020204" charset="-122"/>
              </a:rPr>
              <a:t>谐振子能级误差&lt;0.1%；双势阱展现能级劈裂(隧穿效应)</a:t>
            </a:r>
            <a:endParaRPr sz="1300" i="1">
              <a:solidFill>
                <a:srgbClr val="2C3E50"/>
              </a:solidFill>
              <a:latin typeface="微软雅黑" panose="020B0503020204020204" charset="-122"/>
            </a:endParaRPr>
          </a:p>
        </p:txBody>
      </p:sp>
      <p:pic>
        <p:nvPicPr>
          <p:cNvPr id="7" name="图片 6"/>
          <p:cNvPicPr/>
          <p:nvPr/>
        </p:nvPicPr>
        <p:blipFill>
          <a:blip r:embed="rId2"/>
          <a:stretch>
            <a:fillRect/>
          </a:stretch>
        </p:blipFill>
        <p:spPr>
          <a:xfrm>
            <a:off x="11223625" y="0"/>
            <a:ext cx="968375" cy="9220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144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微软雅黑" panose="020B0503020204020204" charset="-122"/>
              </a:rPr>
              <a:t>结论</a:t>
            </a:r>
            <a:endParaRPr sz="26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2299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1800" b="1">
                <a:solidFill>
                  <a:srgbClr val="2E86AB"/>
                </a:solidFill>
                <a:latin typeface="微软雅黑" panose="020B0503020204020204" charset="-122"/>
              </a:rPr>
              <a:t>▸ CN格式严格守恒，透射系数与理论4个数量级吻合</a:t>
            </a:r>
            <a:endParaRPr sz="1800" b="1">
              <a:solidFill>
                <a:srgbClr val="2E86AB"/>
              </a:solidFill>
              <a:latin typeface="微软雅黑" panose="020B0503020204020204" charset="-122"/>
            </a:endParaRPr>
          </a:p>
          <a:p>
            <a:pPr>
              <a:lnSpc>
                <a:spcPct val="130000"/>
              </a:lnSpc>
              <a:spcBef>
                <a:spcPts val="800"/>
              </a:spcBef>
            </a:pPr>
            <a:endParaRPr sz="1800" b="1">
              <a:solidFill>
                <a:srgbClr val="2E86AB"/>
              </a:solidFill>
              <a:latin typeface="微软雅黑" panose="020B0503020204020204" charset="-122"/>
            </a:endParaRP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1800" b="1">
                <a:solidFill>
                  <a:srgbClr val="2E86AB"/>
                </a:solidFill>
                <a:latin typeface="微软雅黑" panose="020B0503020204020204" charset="-122"/>
              </a:rPr>
              <a:t>▸ 三大创新：动量空间分析 / 收敛性验证 / 含时势场(增强30倍)</a:t>
            </a:r>
            <a:endParaRPr sz="1800" b="1">
              <a:solidFill>
                <a:srgbClr val="2E86AB"/>
              </a:solidFill>
              <a:latin typeface="微软雅黑" panose="020B0503020204020204" charset="-122"/>
            </a:endParaRPr>
          </a:p>
          <a:p>
            <a:pPr>
              <a:lnSpc>
                <a:spcPct val="130000"/>
              </a:lnSpc>
              <a:spcBef>
                <a:spcPts val="800"/>
              </a:spcBef>
            </a:pPr>
            <a:endParaRPr sz="1800" b="1">
              <a:solidFill>
                <a:srgbClr val="2E86AB"/>
              </a:solidFill>
              <a:latin typeface="微软雅黑" panose="020B0503020204020204" charset="-122"/>
            </a:endParaRP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1800" b="1">
                <a:solidFill>
                  <a:srgbClr val="2E86AB"/>
                </a:solidFill>
                <a:latin typeface="微软雅黑" panose="020B0503020204020204" charset="-122"/>
              </a:rPr>
              <a:t>▸ 展望：吸收边界、二维问题、非线性薛定谔方程</a:t>
            </a:r>
            <a:endParaRPr sz="1800" b="1">
              <a:solidFill>
                <a:srgbClr val="2E86AB"/>
              </a:solidFill>
              <a:latin typeface="微软雅黑" panose="020B0503020204020204" charset="-122"/>
            </a:endParaRPr>
          </a:p>
        </p:txBody>
      </p:sp>
      <p:pic>
        <p:nvPicPr>
          <p:cNvPr id="7" name="图片 6"/>
          <p:cNvPicPr/>
          <p:nvPr/>
        </p:nvPicPr>
        <p:blipFill>
          <a:blip r:embed="rId1"/>
          <a:stretch>
            <a:fillRect/>
          </a:stretch>
        </p:blipFill>
        <p:spPr>
          <a:xfrm>
            <a:off x="11223625" y="0"/>
            <a:ext cx="968375" cy="9220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32720" cy="119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>
                <a:solidFill>
                  <a:srgbClr val="FFFFFF"/>
                </a:solidFill>
                <a:latin typeface="微软雅黑" panose="020B0503020204020204" charset="-122"/>
              </a:rPr>
              <a:t>谢谢！</a:t>
            </a:r>
            <a:endParaRPr sz="7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566920" y="3657600"/>
            <a:ext cx="3027680" cy="5835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>
                <a:solidFill>
                  <a:srgbClr val="BDC3C7"/>
                </a:solidFill>
                <a:latin typeface="微软雅黑" panose="020B0503020204020204" charset="-122"/>
              </a:rPr>
              <a:t>欢迎提问与讨论</a:t>
            </a:r>
            <a:endParaRPr sz="3200">
              <a:solidFill>
                <a:srgbClr val="BDC3C7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684520" y="4754880"/>
            <a:ext cx="792480" cy="33718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zh-CN" sz="1600">
                <a:solidFill>
                  <a:srgbClr val="FFFFFF"/>
                </a:solidFill>
                <a:latin typeface="微软雅黑" panose="020B0503020204020204" charset="-122"/>
              </a:rPr>
              <a:t>张晅瑞</a:t>
            </a:r>
            <a:endParaRPr lang="zh-CN" sz="160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pic>
        <p:nvPicPr>
          <p:cNvPr id="7" name="图片 6"/>
          <p:cNvPicPr/>
          <p:nvPr/>
        </p:nvPicPr>
        <p:blipFill>
          <a:blip r:embed="rId1"/>
          <a:stretch>
            <a:fillRect/>
          </a:stretch>
        </p:blipFill>
        <p:spPr>
          <a:xfrm>
            <a:off x="11223625" y="0"/>
            <a:ext cx="968375" cy="9220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817</Words>
  <Application>WPS 演示</Application>
  <PresentationFormat>On-screen Show (4:3)</PresentationFormat>
  <Paragraphs>63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9" baseType="lpstr">
      <vt:lpstr>Arial</vt:lpstr>
      <vt:lpstr>宋体</vt:lpstr>
      <vt:lpstr>Wingdings</vt:lpstr>
      <vt:lpstr>Arial</vt:lpstr>
      <vt:lpstr>微软雅黑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张晅瑞</cp:lastModifiedBy>
  <cp:revision>2</cp:revision>
  <dcterms:created xsi:type="dcterms:W3CDTF">2013-01-27T09:14:00Z</dcterms:created>
  <dcterms:modified xsi:type="dcterms:W3CDTF">2026-06-27T09:52:48Z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2052-12.1.0.26375</vt:lpwstr>
  </property>
  <property fmtid="{D5CDD505-2E9C-101B-9397-08002B2CF9AE}" pid="3" name="ICV">
    <vt:lpwstr>1599C992309C479D8CCA649ABF94AC2A_12</vt:lpwstr>
  </property>
</Properties>
</file>